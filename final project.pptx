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F77B-16AE-464A-83A6-F87C82C19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CE81D-4A1B-477C-822E-90C84FBB7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F77AB-A492-4F62-9261-CB26007A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0237B-DD64-4906-8507-8E559E9C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AAF0-76EB-4418-8DCA-190DEEA2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8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608A-1E45-4CF4-85CF-D462CDA5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2B43-9D19-4921-B285-E4E4B0E4F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2483-9083-4A6B-88C5-5E01467C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DB629-E116-4457-A8DC-AC121BCD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0F5C-D20A-4FA9-A11F-96BC5D6E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1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9139-64A2-4D81-AA18-7BA07692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C4FAD-2508-4E5B-B946-56D385B1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07026-BC43-4AB3-9DE8-BC6750A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AAB-279C-4CFF-A8BC-A278AC7C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71C89-0E89-469A-9BC0-D5531057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1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9D8A-E3FF-41B2-9475-A6A149DB6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AED04-E6C4-44F5-AA65-07BC3AA34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508F4-68BB-422D-AABC-A3932F64C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F2581-A782-4E9F-AB7B-636D17DC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1857-78C9-46EC-AAC3-5A0A518E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3C65F-A04F-459E-ABB6-2924048D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6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9AD7-079C-452F-9C1D-29F67887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2DC5-C9AD-48F4-A46C-3899567C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31468-BDFD-4D3E-B85F-761C35390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D161-6C9E-4DF3-A434-0D7728E2E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2C095-F88B-440B-AD41-207957AD9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1C376-ABA3-440F-9344-700A9E0E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E0E61-4227-42C4-AB6E-A2FFEE2C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3FC7A-9A01-44A9-88A3-EA329E7F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1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500D-05EC-49B6-B632-BB60837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3F04D-E977-4ECD-8492-173C887B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77D3F-6A9A-452C-8ECE-5B91AAB7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9CFA6-97E1-4742-BC8E-6360673C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9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9F0ED-165E-4D8A-B719-6EBC8B8DD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B49B0-E1C6-4C97-97F2-1B6BD171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70164-081A-4239-B4DE-D63BF27B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9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9EF2-A465-4D03-850D-ED108A640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8470D-FEB9-4521-B54B-452369F3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5A885-BA43-4DEF-8102-ACF992BE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EB087-7EE3-405B-9351-5AE7849B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ED53-527D-4F80-9C6E-6953F525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BB39F-0A33-4088-B8D9-89FCBE50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6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368C-6E95-48AC-883A-08E47526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83E50-4B18-47D2-AAA0-8CB30E8EA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E698D-D885-4B70-99EC-4361B3CC6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C05EF-EAB8-48DE-B558-12B75F4B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EFB33-EDB0-4696-8FD6-AE122B0D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CD9C4-867C-4C9C-B2F1-67C8528D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7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07648-D707-4535-AF8D-1F45A838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91089-8A56-4468-9880-E37E21245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ACD3E-308D-4A12-A6CF-3D66070F1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EBFC8-8D17-4F15-82EF-3CD654A6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70219-7251-4FB6-9586-73DC2741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1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82EC2-6FE7-4FAA-B19B-CDFB637FF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C9242-AABC-4ECA-AF7A-5921603B3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DD55-193E-4480-BA45-75FB69ED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90F42-22B2-4392-A1D1-BC6C60E2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B51A-66B6-495E-89D4-E68C8892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02EEB-83C1-44B1-B7F9-BA6490BF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4C6C8-432F-44F9-89D2-C056B6387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A169D-BCA1-46C6-9A53-82EB76152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A7411-6D1D-408B-B7AB-B9354F281FF5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1ECB-C617-471B-9BC4-C40B2A7F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2C424-EEE7-4646-AFBA-21A98AFAD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C6C98-D2D5-45E4-8CCE-20140F717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9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80FB7D-CF33-4799-B3A6-4796A5FC77B5}"/>
              </a:ext>
            </a:extLst>
          </p:cNvPr>
          <p:cNvSpPr/>
          <p:nvPr/>
        </p:nvSpPr>
        <p:spPr>
          <a:xfrm>
            <a:off x="1495989" y="1851221"/>
            <a:ext cx="920001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Music origin classification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06B95-6C05-4898-BCC7-DE6888404713}"/>
              </a:ext>
            </a:extLst>
          </p:cNvPr>
          <p:cNvSpPr/>
          <p:nvPr/>
        </p:nvSpPr>
        <p:spPr>
          <a:xfrm>
            <a:off x="5151574" y="3898783"/>
            <a:ext cx="188885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Group 18: Sili Wei</a:t>
            </a:r>
          </a:p>
        </p:txBody>
      </p:sp>
    </p:spTree>
    <p:extLst>
      <p:ext uri="{BB962C8B-B14F-4D97-AF65-F5344CB8AC3E}">
        <p14:creationId xmlns:p14="http://schemas.microsoft.com/office/powerpoint/2010/main" val="144918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4D71AF-729F-4F6D-84F0-DA012445F897}"/>
              </a:ext>
            </a:extLst>
          </p:cNvPr>
          <p:cNvSpPr/>
          <p:nvPr/>
        </p:nvSpPr>
        <p:spPr>
          <a:xfrm>
            <a:off x="345474" y="224135"/>
            <a:ext cx="3402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D06F8-9F83-44FA-BC2B-E1393541AFFF}"/>
              </a:ext>
            </a:extLst>
          </p:cNvPr>
          <p:cNvSpPr txBox="1"/>
          <p:nvPr/>
        </p:nvSpPr>
        <p:spPr>
          <a:xfrm>
            <a:off x="1990436" y="2127117"/>
            <a:ext cx="82111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n=1059</a:t>
            </a:r>
          </a:p>
          <a:p>
            <a:r>
              <a:rPr lang="en-US" sz="2800" dirty="0"/>
              <a:t>p=116</a:t>
            </a:r>
          </a:p>
          <a:p>
            <a:r>
              <a:rPr lang="en-US" sz="2800" dirty="0"/>
              <a:t>n+ = 932</a:t>
            </a:r>
          </a:p>
          <a:p>
            <a:r>
              <a:rPr lang="en-US" sz="2800" dirty="0"/>
              <a:t>n- = 127</a:t>
            </a:r>
          </a:p>
          <a:p>
            <a:r>
              <a:rPr lang="en-US" sz="2800" dirty="0"/>
              <a:t>imbalance ratio: 13.63%</a:t>
            </a:r>
          </a:p>
          <a:p>
            <a:r>
              <a:rPr lang="en-US" sz="2800" dirty="0"/>
              <a:t>features: audio features of the track</a:t>
            </a:r>
          </a:p>
          <a:p>
            <a:r>
              <a:rPr lang="en-US" altLang="zh-CN" sz="2800" dirty="0"/>
              <a:t>response: music from northern /southern hemisphere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814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F0054-40B6-44DC-9030-33F8F6511B8A}"/>
              </a:ext>
            </a:extLst>
          </p:cNvPr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kern="1200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  <a:ea typeface="+mj-ea"/>
                <a:cs typeface="+mj-cs"/>
              </a:rPr>
              <a:t>Boxplot of 50 AUCs</a:t>
            </a:r>
          </a:p>
        </p:txBody>
      </p: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779F6157-728C-461F-B4FD-B06BFA08F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878" y="1125379"/>
            <a:ext cx="6780700" cy="423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6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B5B0BF57-D1CA-439A-902D-4A3286134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3" y="1210695"/>
            <a:ext cx="3438815" cy="2145756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7E9EEB9F-2F47-434C-983A-9BF668FED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21" y="1217712"/>
            <a:ext cx="3416322" cy="2131721"/>
          </a:xfrm>
          <a:prstGeom prst="rect">
            <a:avLst/>
          </a:prstGeom>
        </p:spPr>
      </p:pic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2C478201-41ED-4039-A8E3-F3BD58849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232208"/>
            <a:ext cx="3369861" cy="210273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23D97D8B-CFC5-431A-AA32-93C4522A6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233674"/>
            <a:ext cx="12192000" cy="2624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92EAF4-5FDF-4103-974C-09217271FDC5}"/>
              </a:ext>
            </a:extLst>
          </p:cNvPr>
          <p:cNvSpPr/>
          <p:nvPr/>
        </p:nvSpPr>
        <p:spPr>
          <a:xfrm>
            <a:off x="969264" y="4535424"/>
            <a:ext cx="3685032" cy="14996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0" cap="none" spc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  <a:ea typeface="+mj-ea"/>
                <a:cs typeface="+mj-cs"/>
              </a:rPr>
              <a:t>10-fold CV curves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999AE-CA98-426B-A989-5948F85CCE54}"/>
              </a:ext>
            </a:extLst>
          </p:cNvPr>
          <p:cNvSpPr txBox="1"/>
          <p:nvPr/>
        </p:nvSpPr>
        <p:spPr>
          <a:xfrm>
            <a:off x="5074920" y="4535423"/>
            <a:ext cx="4930626" cy="1586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Lasso: 8.32s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Elastic-net: 8.79s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Ridge: 3.43s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91EAA54-AC0A-4AEF-ACE5-B1DD3DC8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08171" y="4821439"/>
            <a:ext cx="1128382" cy="847206"/>
            <a:chOff x="8183879" y="1000124"/>
            <a:chExt cx="1562267" cy="1172973"/>
          </a:xfrm>
        </p:grpSpPr>
        <p:sp>
          <p:nvSpPr>
            <p:cNvPr id="93" name="Freeform 5">
              <a:extLst>
                <a:ext uri="{FF2B5EF4-FFF2-40B4-BE49-F238E27FC236}">
                  <a16:creationId xmlns:a16="http://schemas.microsoft.com/office/drawing/2014/main" id="{57EE6F04-B543-44E1-BA29-3DD44C5AE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">
              <a:extLst>
                <a:ext uri="{FF2B5EF4-FFF2-40B4-BE49-F238E27FC236}">
                  <a16:creationId xmlns:a16="http://schemas.microsoft.com/office/drawing/2014/main" id="{D5559A4F-CFAC-4ECC-B04A-670D559B9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BF28CD0-2497-4727-B243-AF3400B13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380774"/>
              </p:ext>
            </p:extLst>
          </p:nvPr>
        </p:nvGraphicFramePr>
        <p:xfrm>
          <a:off x="1828800" y="1967894"/>
          <a:ext cx="81279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347930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2068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85277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Median Test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time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2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0.7213771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6.590375s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65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Elastic-net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0.7319647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6.909233s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0.6934702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1.775729s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58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0.7587683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7.750073s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53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22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5978004-C579-4E6D-AF39-1E064C90F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1365471"/>
            <a:ext cx="8183117" cy="51061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7C6A88-679E-4F35-A0C7-904AA0CEBC83}"/>
              </a:ext>
            </a:extLst>
          </p:cNvPr>
          <p:cNvSpPr/>
          <p:nvPr/>
        </p:nvSpPr>
        <p:spPr>
          <a:xfrm>
            <a:off x="217058" y="168717"/>
            <a:ext cx="6799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Bar plots of coefficients</a:t>
            </a:r>
          </a:p>
        </p:txBody>
      </p:sp>
    </p:spTree>
    <p:extLst>
      <p:ext uri="{BB962C8B-B14F-4D97-AF65-F5344CB8AC3E}">
        <p14:creationId xmlns:p14="http://schemas.microsoft.com/office/powerpoint/2010/main" val="261546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476850-30BD-4D1E-950D-64B3F2B57888}"/>
              </a:ext>
            </a:extLst>
          </p:cNvPr>
          <p:cNvSpPr/>
          <p:nvPr/>
        </p:nvSpPr>
        <p:spPr>
          <a:xfrm>
            <a:off x="417707" y="224135"/>
            <a:ext cx="3257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2ED71-D4FB-474D-BFD6-1998CC896164}"/>
              </a:ext>
            </a:extLst>
          </p:cNvPr>
          <p:cNvSpPr txBox="1"/>
          <p:nvPr/>
        </p:nvSpPr>
        <p:spPr>
          <a:xfrm>
            <a:off x="2835564" y="2274838"/>
            <a:ext cx="6520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Both logistic regressions and random forest has moderate accuracy on classifying the response. There is no trade-off of time and predictive performance here as the dataset contains only 1059 observations. Lasso and elastic-net agree on almost the same features. </a:t>
            </a:r>
          </a:p>
        </p:txBody>
      </p:sp>
    </p:spTree>
    <p:extLst>
      <p:ext uri="{BB962C8B-B14F-4D97-AF65-F5344CB8AC3E}">
        <p14:creationId xmlns:p14="http://schemas.microsoft.com/office/powerpoint/2010/main" val="930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122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SILI.WEI@baruchmail.cuny.edu</dc:creator>
  <cp:lastModifiedBy>SILI.WEI@baruchmail.cuny.edu</cp:lastModifiedBy>
  <cp:revision>18</cp:revision>
  <dcterms:created xsi:type="dcterms:W3CDTF">2021-12-09T07:06:44Z</dcterms:created>
  <dcterms:modified xsi:type="dcterms:W3CDTF">2021-12-14T03:06:22Z</dcterms:modified>
</cp:coreProperties>
</file>